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EA5E9"/>
                </a:solidFill>
                <a:latin typeface="Segoe UI"/>
              </a:defRPr>
            </a:pPr>
            <a:r>
              <a:t>ENTERPRISE TECHNICAL ARCHITECTURE &amp; SYSTEMS SPECIFICATION</a:t>
            </a:r>
          </a:p>
          <a:p>
            <a:pPr>
              <a:spcAft>
                <a:spcPts val="1400"/>
              </a:spcAft>
              <a:defRPr sz="3600" b="1">
                <a:solidFill>
                  <a:srgbClr val="F1F5F9"/>
                </a:solidFill>
                <a:latin typeface="Segoe UI"/>
              </a:defRPr>
            </a:pPr>
            <a:r>
              <a:t>MaktabaBora Smart Library Management System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  <a:latin typeface="Segoe UI"/>
              </a:defRPr>
            </a:pPr>
            <a:r>
              <a:t>A modern hybrid library ecosystem uniting automated physical circulation, in-browser digital eBook access, cashless Safaricom M-Pesa payments, and grounded AI retrieval (RAG).</a:t>
            </a:r>
          </a:p>
          <a:p>
            <a:pPr>
              <a:defRPr sz="1100">
                <a:solidFill>
                  <a:srgbClr val="0EA5E9"/>
                </a:solidFill>
                <a:latin typeface="Consolas"/>
              </a:defRPr>
            </a:pPr>
            <a:r>
              <a:t>Core Stack: PHP 8.2+ · Laravel 11.x · React 18 · Tailwind CSS v4 · PostgreSQL 16 · Neon Cloud · OpenAI / Gemini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STRATEGIC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Segoe UI"/>
              </a:defRPr>
            </a:pPr>
            <a:r>
              <a:t>Executive Summary &amp; Core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Patron &amp; Digital Services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Bridges physical book circulation with lifetime digital reading. Features an interactive in-browser EPUB/PDF reader, dynamic multi-tier perk subscriptions, and automated hold waitlists.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109728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96596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Staff Circulation Desk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Eliminates manual paper ledgers with automated barcode loans, dynamic overdue fine accrual (KES 10/day), 1-click Open Library ISBN catalog imports, and fine waiver auditing.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2011680"/>
            <a:ext cx="109728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196596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F1F5F9"/>
                </a:solidFill>
                <a:latin typeface="Segoe UI"/>
              </a:defRPr>
            </a:pPr>
            <a:r>
              <a:t>Enterprise AI &amp; Payments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Features a conversational RAG AI Librarian grounded strictly in catalog records with a 20k daily token limiter, alongside simulated Safaricom Daraja M-Pesa STK push checkout.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Architecture &amp; 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01. 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Institutional Objectives &amp; Features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High-Level System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Core Technology Matrix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Multi-Tier Separation of Concerns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02. DATA &amp;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Relational 3NF Database &amp; ER Model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Comprehensive Schema Dictionary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Directory Layout &amp; Model Classes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REST Controllers &amp; Domain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03. WORKFLOWS &amp;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Auth &amp; JWT Token Lifecycle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Circulation, Returns &amp; Fines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Hold Queue &amp; Digital Purchase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AI RAG Assistant &amp; Code Highlights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04. OPERATIONS &amp;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API Gateway &amp; Integrations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Multi-Layer Security Defenses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Testing Suite (127 Passing Tests)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Deployment, Roadmap &amp;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1: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Institutional Objectives &amp; Strategic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Automated Physical Circulation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Eliminate paper ledgers via real-time barcode tracking, auto-computed return dates, and dynamic fine accrual.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Hybrid Physical + Digital Lending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Empower remote patrons with in-browser digital reading (EPUB/PDF), chapter navigation, and study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3. Cashless Financial Operations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Direct integration with Safaricom Daraja M-Pesa for instant settlement of passes, digital rentals, and fines (simulated in MVP).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4. Grounded AI Catalog Discovery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Equip patrons with a conversational AI Assistant strictly grounded in real catalog holdings with a 20k token daily cost limiter.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5. Global Catalog Interoperability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Rapidly populate collections with 1-click ISBN metadata synchronization from Open Library REST APIs.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6. Defense-in-Depth &amp; Privacy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Enforce stateless HMAC-SHA256 JWT tokens, granular RBAC, and absolute patron borrowing privacy.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1: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Features: Patron Services &amp; Hybrid Lending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Public Catalog &amp;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Full-text search by title, author, genre, or ISBN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Real-time physical copy availability indicators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Reference-only restriction warnings for special collections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Foreign currency book pricing with live KES estimates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FIFO Hold Reservation 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Place holds on checked-out titles with dynamic queue rank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Automated allocation when physical copies are returned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Printable and downloadable digital hold receipts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1-click patron hold cancellation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Digital Library &amp; e-Reader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One-time purchase granting lifetime in-app access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In-browser EPUB &amp; PDF reading without browser plugins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Custom themes (Light, Dark, Sepia) and font scaling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Chapter navigation and local margin notes notepad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Membership Perk Passes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Configurable tiers: General, Student, Scholar, VIP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Dynamic digital book discounts applied in cart (10%-25%)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Higher physical borrow limits (up to 10 books)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Transparent refund claim filing with staff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1: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Features: Circulation Desk &amp; Administration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Librarian Circulation 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High-speed barcode scanner checkout and return processing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Automated overdue fine accrual at KES 10.00 / day past due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Authority to waive patron fines with mandatory audit logging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Custom physical borrow limit overrides per patron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Open Library ISBN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1-click catalog import from Open Library REST API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Auto-populates title, author, synopsis, and cover art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Batch copy creation with unique shelf barcode generation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Graceful degradation when external services are unreachable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AI Assistant &amp; Quota Limiter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Conversational RAG assistant grounded strictly in library stock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Anti-hallucination guardrails and PII protection filters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Daily 20,000 token consumption cost limiter per member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Dynamic OpenAI / Gemini API key rotation and testing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System Admin &amp; Dynamic 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Global circulation analytics: active loans, overdue, revenue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User account governance with ban toggles and reason auditing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First-time librarian password rotation enforcement</a:t>
            </a:r>
          </a:p>
          <a:p>
            <a:pPr>
              <a:spcAft>
                <a:spcPts val="3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 Direct administrative table data management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2: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Multi-Tier Client-Server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691640"/>
            <a:ext cx="36576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Client Presentation Layer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React 18 Single Page Application built with Vite 7. Manages client state via AuthContext and CartContext, with responsive Tailwind CSS v4 styling and Framer Motion micro-animations.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926080"/>
            <a:ext cx="36576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API Gateway &amp; Security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Centralized /api/v1 gateway enforcing CORS headers, IP rate limiting, HMAC-SHA256 JWT validation, and RBAC privilege gates before requests reach controllers.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36576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Domain Services Layer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Decoupled PHP services bound to strict interface contracts. Handles JWT signing, Daraja M-Pesa STK push, vector embeddings, TF-IDF recommendations, and loan quotas.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663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394960"/>
            <a:ext cx="36576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1F5F9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49240"/>
            <a:ext cx="97840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Data Persistence Layer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PostgreSQL 16 relational database utilizing 3NF normalization. Automatically toggles between Neon Cloud connection pooling and direct migration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2: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Architectural Separation of Concerns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Providers (`app/Providers`)</a:t>
            </a:r>
          </a:p>
          <a:p>
            <a:pPr>
              <a:spcAft>
                <a:spcPts val="6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Role: The Setup Crew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Runs before any request is handled. Binds service interfaces to concrete singletons in the IoC container and defines authorization Gates ('access-admin', 'access-librarian').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Middleware (`app/Http/Middleware`)</a:t>
            </a:r>
          </a:p>
          <a:p>
            <a:pPr>
              <a:spcAft>
                <a:spcPts val="6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Role: The Security Gatekeepers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Inspects requests at the door. Validates JWT signatures, checks banned status, evaluates borrow quotas, and enforces daily 20k AI token limits before controllers execute.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Controllers (`app/Http/Controllers`)</a:t>
            </a:r>
          </a:p>
          <a:p>
            <a:pPr>
              <a:spcAft>
                <a:spcPts val="6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Role: The Traffic Directors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Thin HTTP adapters. Validates request parameters, calls relevant services, and returns formatted JSON responses (200, 201, 401, 403, 422, 500). Contains zero business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Services (`app/Services`)</a:t>
            </a:r>
          </a:p>
          <a:p>
            <a:pPr>
              <a:spcAft>
                <a:spcPts val="600"/>
              </a:spcAft>
              <a:defRPr sz="1050" b="1">
                <a:solidFill>
                  <a:srgbClr val="0284C7"/>
                </a:solidFill>
                <a:latin typeface="Segoe UI"/>
              </a:defRPr>
            </a:pPr>
            <a:r>
              <a:t>Role: The Domain Brains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Pure business logic. Performs cryptographic token hashing, Daraja M-Pesa STK pushes, vector similarity calculations, and Open Library catalog imports independent of HTTP.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2: UML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Use Case &amp; Actor Interaction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Primary Actors: </a:t>
            </a:r>
            <a:r>
              <a:rPr sz="1100">
                <a:solidFill>
                  <a:srgbClr val="0F172A"/>
                </a:solidFill>
                <a:latin typeface="Segoe UI"/>
              </a:rPr>
              <a:t>4 Human actors: Guest Patron, Registered Member, Librarian Staff, and Administrator.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External Gateways: </a:t>
            </a:r>
            <a:r>
              <a:rPr sz="1100">
                <a:solidFill>
                  <a:srgbClr val="0F172A"/>
                </a:solidFill>
                <a:latin typeface="Segoe UI"/>
              </a:rPr>
              <a:t>Safaricom Daraja (M-Pesa STK Push), OpenAI/Gemini (Catalog RAG), and Open Library (ISBN Import).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Member Services: </a:t>
            </a:r>
            <a:r>
              <a:rPr sz="1100">
                <a:solidFill>
                  <a:srgbClr val="0F172A"/>
                </a:solidFill>
                <a:latin typeface="Segoe UI"/>
              </a:rPr>
              <a:t>Physical borrowing, FIFO hold queues, in-app digital reader, M-Pesa pass subscriptions, and AI chatbot.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Staff Operations: </a:t>
            </a:r>
            <a:r>
              <a:rPr sz="1100">
                <a:solidFill>
                  <a:srgbClr val="0F172A"/>
                </a:solidFill>
                <a:latin typeface="Segoe UI"/>
              </a:rPr>
              <a:t>Circulation desk checkout/return, fine waivers, hold approvals, and catalog inventory CRUD.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Administrative Core: </a:t>
            </a:r>
            <a:r>
              <a:rPr sz="1100">
                <a:solidFill>
                  <a:srgbClr val="0F172A"/>
                </a:solidFill>
                <a:latin typeface="Segoe UI"/>
              </a:rPr>
              <a:t>User ban management, librarian creation, dynamic membership tiers, and encrypted AI settings.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3: TECHNOLOGIES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 Matrix: Core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097280"/>
                <a:gridCol w="597377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Layer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Technology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Key Responsibilities in MaktabaBora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8.2+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Type-safe runtime, native vector math, OpenSSL cryptographic functions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Backend Framework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Laravel Framework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11.x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Headless RESTful API, Eloquent ORM, IoC Service Container, Gates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Dependency Mgr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Composer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PHP package dependency resolution and class autoloader optimization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Relational Database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PostgreSQL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16.x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3NF ACID storage, JSONB indexing, foreign key constraints, cascading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Serverless Cloud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Neon Cloud PostgreSQL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Cloud DB with pooled endpoints &amp; automatic migration endpoint switching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Testing Database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SQLite (:memory:)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3.x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Isolated in-RAM database executing 127 Unit/Feature tests in ~7 seconds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Frontend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18.3.1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Single-Page Application, custom Context state (AuthContext, CartContext)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Build &amp; Dev Server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Vite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7.0.7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Ultra-fast frontend build tooling and Hot Module Replacement (HMR)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3: TECHNOLOGIES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 Matrix: Integrations &amp;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463040"/>
                <a:gridCol w="560801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Subsystem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Tool / Service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Version / Model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Integration Purpose &amp; Functionality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Client Styling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Tailwind CSS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v4.0.0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Utility-first design engine powering responsive layouts &amp; reader themes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UI Components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Lucide React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0.400.0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Modern iconography suite across all patron, staff, and admin dashboards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UI Motion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Framer Motion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12.43.0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Fluid animations for drawers, reader controls, and checkout countdowns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HTTP Client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Axios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1.11.0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Client API library with request interceptors attaching Bearer JWT tokens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Payment Gateway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Safaricom Daraja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v2.0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Customer-to-Business STK Push and real-time transaction polling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Catalog AI RAG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OpenAI / Gemini API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gpt-4o-mini / flash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Text embeddings (1536-dim) &amp; grounded conversational AI guidance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Metadata Provider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Open Library 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REST 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1-Click automated ISBN metadata search and cover synchronization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Automated Testing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PHPUnit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11.x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Unit test suite (80 tests) and Feature HTTP pipeline suite (47 tests)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4: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Relational Database Design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Third Normal Form (3NF)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Zero transitive dependencies. Tables store discrete, non-redundant domain entities with clear single-responsibility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Strict Referential Integrity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Foreign key constraints with ON DELETE CASCADE for dependent records (e.g. book copies) and ON DELETE RESTRICT for critical financial loans.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High-Performance Indexing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Dedicated B-tree indexes on authentication emails, barcodes, ISBNs, loan due dates, and AI usage timestamps for instant querying.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ACID Financial Compliance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Multi-table state mutations (e.g. loan issuance, hold fulfillments, pass activations) run inside strict database transactions (DB::beginTransaction).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JSONB Semi-Structured Data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Utilizes native PostgreSQL JSONB columns for digital eBook chapter indexes, reader table-of-contents, and AI grounding metadata.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Serverless Pooler Awareness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Backend dynamically switches between PgBouncer pooled connections (app queries) and direct connections (schema migrations).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4: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Relational Database Schema &amp; 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tabase_schema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Core Entities: </a:t>
            </a:r>
            <a:r>
              <a:rPr sz="1100">
                <a:solidFill>
                  <a:srgbClr val="0F172A"/>
                </a:solidFill>
                <a:latin typeface="Segoe UI"/>
              </a:rPr>
              <a:t>17 Relational tables capturing Identity, Circulation, Digital Media, Subscriptions, AI, and Auditing.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Identity Model: </a:t>
            </a:r>
            <a:r>
              <a:rPr sz="1100">
                <a:solidFill>
                  <a:srgbClr val="0F172A"/>
                </a:solidFill>
                <a:latin typeface="Segoe UI"/>
              </a:rPr>
              <a:t>Polymorphic extension: users (1) extends to members (patrons) and librarians (staff).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Circulation Triad: </a:t>
            </a:r>
            <a:r>
              <a:rPr sz="1100">
                <a:solidFill>
                  <a:srgbClr val="0F172A"/>
                </a:solidFill>
                <a:latin typeface="Segoe UI"/>
              </a:rPr>
              <a:t>books (catalog) contains book_copies (physical barcodes) which are checked out in loans.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Financial Audits: </a:t>
            </a:r>
            <a:r>
              <a:rPr sz="1100">
                <a:solidFill>
                  <a:srgbClr val="0F172A"/>
                </a:solidFill>
                <a:latin typeface="Segoe UI"/>
              </a:rPr>
              <a:t>Fines linked to loans; Subscriptions linked to tiers; Refund requests audited by librarians.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AI Memory &amp; Logs: </a:t>
            </a:r>
            <a:r>
              <a:rPr sz="1100">
                <a:solidFill>
                  <a:srgbClr val="0F172A"/>
                </a:solidFill>
                <a:latin typeface="Segoe UI"/>
              </a:rPr>
              <a:t>chat_sessions store chat_messages; ai_usage_logs track rolling 24-hour token consumption.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4: DATABASE SCHEMA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 Dictionary: Identity, Patrons &amp; Membership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463040"/>
                <a:gridCol w="1828800"/>
                <a:gridCol w="432785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Description &amp; Operational Rules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BIGINT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PK, Auto-Inc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 global user identity 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 login address; validated against RFC standards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admin, librarian, 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Primary RBAC gate attribute (Default: 'member')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member_number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Patron system barcode identifier (e.g. MEM-4F8A9B)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borrow_limit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Default: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Max concurrent active physical book loans allowed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is_banned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Default: false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Suspension flag; checked by CheckBannedStatus middleware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librarians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employee_number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Official staff identifier assigned upon creation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membership_tiers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DECIMAL(10,2)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Monthly subscription price in Kenya Shillings (KES)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membership_tiers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digital_discount_pct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DECIMAL(5,2)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Default: 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Percentage discount applied to digital eBook purchases in cart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4: DATABASE SCHEMA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 Dictionary: Inventory, Barcodes &amp; Loans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463040"/>
                <a:gridCol w="1828800"/>
                <a:gridCol w="432785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Description &amp; Operational Rules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isbn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 or 13-digit International Standard Book Number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available_copies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Default: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Current physical volumes on shelf; decrements on loan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rental_price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DECIMAL(10,2)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Default: 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Baseline digital eBook purchase price in 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book_copies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barcode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Physical copy barcode scanned at circulation desk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book_copies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avail, borrowed, lost...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State of physical volume (Default: 'available')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due_date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Indexed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Return deadline (Default: loan_date + 14 days)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active, returned, overdue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Circulation state; checked by cron/middleware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amount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DECIMAL(10,2)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Accrued overdue fine (calculated at KES 10.00 / day)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reservations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queue_position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FIFO waitlist rank for checked-out book (1, 2, 3...)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4: DATABASE SCHEMA 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 Dictionary: Digital Store, AI Memory &amp; Auditing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463040"/>
                <a:gridCol w="1828800"/>
                <a:gridCol w="432785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Description &amp; Operational Rules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digital_books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file_format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'epub', 'pdf'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 eBook MIME format served to in-browser reader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digital_books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chapter_index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JSONB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Structured chapter list, anchors, and word counts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digital_rentals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access_type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'lifetime_purchase'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Permanent digital license for reading purchased eBook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subscriptions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transaction_reference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VARCHAR(128)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Safaricom Daraja M-Pesa receipt verification 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chat_sessions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session_token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UNIQUE, Indexed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Cryptographic token isolating patron conversation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chat_messages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grounding_metadata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JSONB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Referenced catalog book IDs, authors, and similarity scores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ai_usage_logs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tokens_consumed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Prompt + completion tokens used for daily quota tracking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refund_requests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ENUM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pending, approved...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Formal patron reimbursement workflow audited by staff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5: SYSTEM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Application Structure &amp; Modular Directory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Backend Controllers (`app/Http/Controllers`)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18 REST controllers managing Auth, Physical Inventory, Loans, Fines, Reservations, Subscriptions, AI Chatbot, and Admin CRUD. Formats input and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Security Middleware (`app/Http/Middleware`)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20 Custom gatekeepers enforcing JWT validation, CORS, token-bucket rate limits, borrow quotas, banned member blocks, and daily 20k AI token cost limits.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Domain Services (`app/Services`)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19 Decoupled business logic classes implementing explicit interfaces. Covers JWT signing, Daraja STK push, vector cosine scoring, and Open Library imports.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Frontend Single Page App (`frontend/src`)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13 Page views (`pages/`), reusable components (`components/`), React Context managers (`AuthContext`, `CartContext`), and Axios API service interceptors.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5: CLASS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Eloquent Models Architecture &amp;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agram_01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Entity Classes: </a:t>
            </a:r>
            <a:r>
              <a:rPr sz="1100">
                <a:solidFill>
                  <a:srgbClr val="0F172A"/>
                </a:solidFill>
                <a:latin typeface="Segoe UI"/>
              </a:rPr>
              <a:t>14 Eloquent models encapsulating database attributes, mutators, and relationships.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Identity Hierarchy: </a:t>
            </a:r>
            <a:r>
              <a:rPr sz="1100">
                <a:solidFill>
                  <a:srgbClr val="0F172A"/>
                </a:solidFill>
                <a:latin typeface="Segoe UI"/>
              </a:rPr>
              <a:t>User hasOne Member and Librarian; Member owns Loans, Holds, Passes, and AI Logs.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Catalog Composition: </a:t>
            </a:r>
            <a:r>
              <a:rPr sz="1100">
                <a:solidFill>
                  <a:srgbClr val="0F172A"/>
                </a:solidFill>
                <a:latin typeface="Segoe UI"/>
              </a:rPr>
              <a:t>Book hasMany BookCopies; Book owns DigitalBook; BookCopy hasMany Loans.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Financial Links: </a:t>
            </a:r>
            <a:r>
              <a:rPr sz="1100">
                <a:solidFill>
                  <a:srgbClr val="0F172A"/>
                </a:solidFill>
                <a:latin typeface="Segoe UI"/>
              </a:rPr>
              <a:t>Loan hasOne Fine; Subscription belongsTo MembershipTier and hasOne RefundRequest.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AI Chat Memory: </a:t>
            </a:r>
            <a:r>
              <a:rPr sz="1100">
                <a:solidFill>
                  <a:srgbClr val="0F172A"/>
                </a:solidFill>
                <a:latin typeface="Segoe UI"/>
              </a:rPr>
              <a:t>ChatSession hasMany ChatMessages with grounding metadata and member ownership.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5: CLASS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REST Controllers 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agram_02_contro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Subsystem 1: Auth &amp; Patron: </a:t>
            </a:r>
            <a:r>
              <a:rPr sz="1100">
                <a:solidFill>
                  <a:srgbClr val="0F172A"/>
                </a:solidFill>
                <a:latin typeface="Segoe UI"/>
              </a:rPr>
              <a:t>AuthController, LoanController, FineController, ReservationController.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Subsystem 2: Digital &amp; Media: </a:t>
            </a:r>
            <a:r>
              <a:rPr sz="1100">
                <a:solidFill>
                  <a:srgbClr val="0F172A"/>
                </a:solidFill>
                <a:latin typeface="Segoe UI"/>
              </a:rPr>
              <a:t>DigitalRentalController, SubscriptionController, MembershipTierController.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Subsystem 3: AI &amp; Discovery: </a:t>
            </a:r>
            <a:r>
              <a:rPr sz="1100">
                <a:solidFill>
                  <a:srgbClr val="0F172A"/>
                </a:solidFill>
                <a:latin typeface="Segoe UI"/>
              </a:rPr>
              <a:t>AiChatbotController, BookRecommendationController, CatalogSearchController.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Subsystem 4: Staff &amp; Admin: </a:t>
            </a:r>
            <a:r>
              <a:rPr sz="1100">
                <a:solidFill>
                  <a:srgbClr val="0F172A"/>
                </a:solidFill>
                <a:latin typeface="Segoe UI"/>
              </a:rPr>
              <a:t>LibrarianDashboardController, AdminDashboardController, AdminCrudController.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Architectural Rule: </a:t>
            </a:r>
            <a:r>
              <a:rPr sz="1100">
                <a:solidFill>
                  <a:srgbClr val="0F172A"/>
                </a:solidFill>
                <a:latin typeface="Segoe UI"/>
              </a:rPr>
              <a:t>Controllers are thin HTTP adapters; all domain tasks delegate to injected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5: CLASS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Domain Services &amp; Contracts Layer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agram_03_serv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Interface Decoupling: </a:t>
            </a:r>
            <a:r>
              <a:rPr sz="1100">
                <a:solidFill>
                  <a:srgbClr val="0F172A"/>
                </a:solidFill>
                <a:latin typeface="Segoe UI"/>
              </a:rPr>
              <a:t>All services implement strict PHP Contracts in app/Contracts/Services/.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IoC Container: </a:t>
            </a:r>
            <a:r>
              <a:rPr sz="1100">
                <a:solidFill>
                  <a:srgbClr val="0F172A"/>
                </a:solidFill>
                <a:latin typeface="Segoe UI"/>
              </a:rPr>
              <a:t>Bound as singletons in Service Providers (e.g. AuthServiceProvider).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Core Domain Classes: </a:t>
            </a:r>
            <a:r>
              <a:rPr sz="1100">
                <a:solidFill>
                  <a:srgbClr val="0F172A"/>
                </a:solidFill>
                <a:latin typeface="Segoe UI"/>
              </a:rPr>
              <a:t>AuthSessionService, DarajaPaymentService, DigitalRentalService, BookAvailabilityService.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Algorithms &amp; Machine Learning: </a:t>
            </a:r>
            <a:r>
              <a:rPr sz="1100">
                <a:solidFill>
                  <a:srgbClr val="0F172A"/>
                </a:solidFill>
                <a:latin typeface="Segoe UI"/>
              </a:rPr>
              <a:t>BookEmbeddingService (Cosine vector distance), CatalogRetrievalService (TF-IDF).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External Integration: </a:t>
            </a:r>
            <a:r>
              <a:rPr sz="1100">
                <a:solidFill>
                  <a:srgbClr val="0F172A"/>
                </a:solidFill>
                <a:latin typeface="Segoe UI"/>
              </a:rPr>
              <a:t>OpenLibraryService (1-Click ISBN import), CurrencyConverterService (Forex parity).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1: Authentication &amp; JWT Token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1_auth_jw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Stateless Architecture: </a:t>
            </a:r>
            <a:r>
              <a:rPr sz="1100">
                <a:solidFill>
                  <a:srgbClr val="0F172A"/>
                </a:solidFill>
                <a:latin typeface="Segoe UI"/>
              </a:rPr>
              <a:t>Tokens signed using HMAC-SHA256 with server master key (APP_KEY); zero DB sessions.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Expiration Policies: </a:t>
            </a:r>
            <a:r>
              <a:rPr sz="1100">
                <a:solidFill>
                  <a:srgbClr val="0F172A"/>
                </a:solidFill>
                <a:latin typeface="Segoe UI"/>
              </a:rPr>
              <a:t>Standard access tokens: 15 minutes; Persistent 'Remember Me' tokens: 30 days.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Middleware Checkpoint: </a:t>
            </a:r>
            <a:r>
              <a:rPr sz="1100">
                <a:solidFill>
                  <a:srgbClr val="0F172A"/>
                </a:solidFill>
                <a:latin typeface="Segoe UI"/>
              </a:rPr>
              <a:t>JwtTokenValidation inspects Bearer header and sets UserResolver on the request.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Session Revocation: </a:t>
            </a:r>
            <a:r>
              <a:rPr sz="1100">
                <a:solidFill>
                  <a:srgbClr val="0F172A"/>
                </a:solidFill>
                <a:latin typeface="Segoe UI"/>
              </a:rPr>
              <a:t>Logout explicitly writes token hash to Redis/Cache blacklist with remaining TTL.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First-Login Rotation: </a:t>
            </a:r>
            <a:r>
              <a:rPr sz="1100">
                <a:solidFill>
                  <a:srgbClr val="0F172A"/>
                </a:solidFill>
                <a:latin typeface="Segoe UI"/>
              </a:rPr>
              <a:t>Librarians are forced to rotate temporary passwords before accessing portal.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2: Physical Circulation, Returns &amp; Overdue Fines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2_physical_circulation_f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Pre-Checkout Guards: </a:t>
            </a:r>
            <a:r>
              <a:rPr sz="1100">
                <a:solidFill>
                  <a:srgbClr val="0F172A"/>
                </a:solidFill>
                <a:latin typeface="Segoe UI"/>
              </a:rPr>
              <a:t>ValidateBorrowLimit and CheckFineAmount verify patron eligibility before checkout.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Atomic Checkout: </a:t>
            </a:r>
            <a:r>
              <a:rPr sz="1100">
                <a:solidFill>
                  <a:srgbClr val="0F172A"/>
                </a:solidFill>
                <a:latin typeface="Segoe UI"/>
              </a:rPr>
              <a:t>DB transaction updates BookCopy status = 'borrowed' and decrements available copies.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Automated Overdue Calculation: </a:t>
            </a:r>
            <a:r>
              <a:rPr sz="1100">
                <a:solidFill>
                  <a:srgbClr val="0F172A"/>
                </a:solidFill>
                <a:latin typeface="Segoe UI"/>
              </a:rPr>
              <a:t>System computes difference between return date and due date at KES 10.00 / day.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Fine Settlement Options: </a:t>
            </a:r>
            <a:r>
              <a:rPr sz="1100">
                <a:solidFill>
                  <a:srgbClr val="0F172A"/>
                </a:solidFill>
                <a:latin typeface="Segoe UI"/>
              </a:rPr>
              <a:t>Patron can pay online via Safaricom Daraja M-Pesa STK push.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Staff Fine Waivers: </a:t>
            </a:r>
            <a:r>
              <a:rPr sz="1100">
                <a:solidFill>
                  <a:srgbClr val="0F172A"/>
                </a:solidFill>
                <a:latin typeface="Segoe UI"/>
              </a:rPr>
              <a:t>Librarians can waive fines with administrative justification and audit logging.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3: Hold Reservation Queue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3_hold_reservation_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FIFO Queue Allocation: </a:t>
            </a:r>
            <a:r>
              <a:rPr sz="1100">
                <a:solidFill>
                  <a:srgbClr val="0F172A"/>
                </a:solidFill>
                <a:latin typeface="Segoe UI"/>
              </a:rPr>
              <a:t>Patrons join waitlist when available_copies == 0; assigned position count + 1.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Automated Reordering: </a:t>
            </a:r>
            <a:r>
              <a:rPr sz="1100">
                <a:solidFill>
                  <a:srgbClr val="0F172A"/>
                </a:solidFill>
                <a:latin typeface="Segoe UI"/>
              </a:rPr>
              <a:t>When a patron cancels or copy is fulfilled, all subsequent queue positions decrement.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Staff Approval Desk: </a:t>
            </a:r>
            <a:r>
              <a:rPr sz="1100">
                <a:solidFill>
                  <a:srgbClr val="0F172A"/>
                </a:solidFill>
                <a:latin typeface="Segoe UI"/>
              </a:rPr>
              <a:t>Librarian approves next in line when copy is returned; allocates 3-day pickup window.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Printable Receipts: </a:t>
            </a:r>
            <a:r>
              <a:rPr sz="1100">
                <a:solidFill>
                  <a:srgbClr val="0F172A"/>
                </a:solidFill>
                <a:latin typeface="Segoe UI"/>
              </a:rPr>
              <a:t>Patrons receive an interactive, printable digital reservation receipt with barcode.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Expiration Cleanup: </a:t>
            </a:r>
            <a:r>
              <a:rPr sz="1100">
                <a:solidFill>
                  <a:srgbClr val="0F172A"/>
                </a:solidFill>
                <a:latin typeface="Segoe UI"/>
              </a:rPr>
              <a:t>Holds not picked up within the 3-day window are automatically expired.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4: Digital Book Purchase &amp; In-App Reader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4_digital_purchase_mpesa_r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Multi-Item Shopping Cart: </a:t>
            </a:r>
            <a:r>
              <a:rPr sz="1100">
                <a:solidFill>
                  <a:srgbClr val="0F172A"/>
                </a:solidFill>
                <a:latin typeface="Segoe UI"/>
              </a:rPr>
              <a:t>Patrons batch-purchase digital eBooks with automatic membership pass discounts.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Safaricom STK Prompt: </a:t>
            </a:r>
            <a:r>
              <a:rPr sz="1100">
                <a:solidFill>
                  <a:srgbClr val="0F172A"/>
                </a:solidFill>
                <a:latin typeface="Segoe UI"/>
              </a:rPr>
              <a:t>DarajaPaymentService initiates STK push directly to patron's mobile phone.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Lifetime License: </a:t>
            </a:r>
            <a:r>
              <a:rPr sz="1100">
                <a:solidFill>
                  <a:srgbClr val="0F172A"/>
                </a:solidFill>
                <a:latin typeface="Segoe UI"/>
              </a:rPr>
              <a:t>Confirmed payment mints a DigitalRental record with access_type = 'lifetime_purchase'.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Protected Reading Stream: </a:t>
            </a:r>
            <a:r>
              <a:rPr sz="1100">
                <a:solidFill>
                  <a:srgbClr val="0F172A"/>
                </a:solidFill>
                <a:latin typeface="Segoe UI"/>
              </a:rPr>
              <a:t>EnsureValidDigitalAccess middleware verifies active purchase before file streaming.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In-Browser Reader: </a:t>
            </a:r>
            <a:r>
              <a:rPr sz="1100">
                <a:solidFill>
                  <a:srgbClr val="0F172A"/>
                </a:solidFill>
                <a:latin typeface="Segoe UI"/>
              </a:rPr>
              <a:t>Supports EPUB &amp; PDF reading, Light/Dark/Sepia themes, font scaling, and local notes.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5: Membership Perk Passes &amp; Refund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5_membership_perks_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Pass Subscription: </a:t>
            </a:r>
            <a:r>
              <a:rPr sz="1100">
                <a:solidFill>
                  <a:srgbClr val="0F172A"/>
                </a:solidFill>
                <a:latin typeface="Segoe UI"/>
              </a:rPr>
              <a:t>Patron subscribes to General, Student, Scholar, or VIP tier via M-Pesa STK push.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Auto-Upgrade Handling: </a:t>
            </a:r>
            <a:r>
              <a:rPr sz="1100">
                <a:solidFill>
                  <a:srgbClr val="0F172A"/>
                </a:solidFill>
                <a:latin typeface="Segoe UI"/>
              </a:rPr>
              <a:t>Purchasing a new tier automatically retires and cancels any previous active pass.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Perk Activation: </a:t>
            </a:r>
            <a:r>
              <a:rPr sz="1100">
                <a:solidFill>
                  <a:srgbClr val="0F172A"/>
                </a:solidFill>
                <a:latin typeface="Segoe UI"/>
              </a:rPr>
              <a:t>Instantly updates member borrow limits (up to 10 books) and cart discount rates.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Dispute Filing: </a:t>
            </a:r>
            <a:r>
              <a:rPr sz="1100">
                <a:solidFill>
                  <a:srgbClr val="0F172A"/>
                </a:solidFill>
                <a:latin typeface="Segoe UI"/>
              </a:rPr>
              <a:t>Patron submits formal refund request with justification via member profile.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Staff Audit &amp; Resolution: </a:t>
            </a:r>
            <a:r>
              <a:rPr sz="1100">
                <a:solidFill>
                  <a:srgbClr val="0F172A"/>
                </a:solidFill>
                <a:latin typeface="Segoe UI"/>
              </a:rPr>
              <a:t>Librarian reviews claim; approving refund cancels pass and resets borrow quotas.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6: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Workflow 6: AI Librarian Assistant (Rate-Limited RAG)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_06_ai_librarian_rag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149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371600"/>
            <a:ext cx="6949440" cy="491490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371600"/>
            <a:ext cx="354787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554480"/>
            <a:ext cx="30906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182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Daily Cost Limiter: </a:t>
            </a:r>
            <a:r>
              <a:rPr sz="1100">
                <a:solidFill>
                  <a:srgbClr val="0F172A"/>
                </a:solidFill>
                <a:latin typeface="Segoe UI"/>
              </a:rPr>
              <a:t>ChatbotCostLimiter middleware checks cumulative 24h tokens; halts at 20,000 ceiling.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Semantic Embeddings: </a:t>
            </a:r>
            <a:r>
              <a:rPr sz="1100">
                <a:solidFill>
                  <a:srgbClr val="0F172A"/>
                </a:solidFill>
                <a:latin typeface="Segoe UI"/>
              </a:rPr>
              <a:t>Query vectorized via text-embedding-3-small and matched using cosine similarity.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Catalog Context Injection: </a:t>
            </a:r>
            <a:r>
              <a:rPr sz="1100">
                <a:solidFill>
                  <a:srgbClr val="0F172A"/>
                </a:solidFill>
                <a:latin typeface="Segoe UI"/>
              </a:rPr>
              <a:t>System prompt is augmented with real library holdings, authors, and shelf codes.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Anti-Hallucination Defense: </a:t>
            </a:r>
            <a:r>
              <a:rPr sz="1100">
                <a:solidFill>
                  <a:srgbClr val="0F172A"/>
                </a:solidFill>
                <a:latin typeface="Segoe UI"/>
              </a:rPr>
              <a:t>Explicit system instructions bar LLM from fabricating non-existent books.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Token Consumption Logging: </a:t>
            </a:r>
            <a:r>
              <a:rPr sz="1100">
                <a:solidFill>
                  <a:srgbClr val="0F172A"/>
                </a:solidFill>
                <a:latin typeface="Segoe UI"/>
              </a:rPr>
              <a:t>Prompt and completion tokens logged to ai_usage_logs on every turn.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8: 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Code: Stateless JWT &amp; 24h AI Cost Limiter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583680" cy="49149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914400" cy="25603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1F5F9"/>
                </a:solidFill>
                <a:latin typeface="Consolas"/>
              </a:defRPr>
            </a:pPr>
            <a:r>
              <a:t>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217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// 1. Stateless JWT Generation (AuthSessionService.php)</a:t>
            </a:r>
            <a:br/>
            <a:r>
              <a:t>public function generateToken(User $user, bool $remember = false): string {</a:t>
            </a:r>
            <a:br/>
            <a:r>
              <a:t>    $ttl = $remember ? (60 * 60 * 24 * 30) : (60 * 15); // 30d vs 15m</a:t>
            </a:r>
            <a:br/>
            <a:r>
              <a:t>    $header = base64_encode(json_encode(['typ' =&gt; 'JWT', 'alg' =&gt; 'HS256']));</a:t>
            </a:r>
            <a:br/>
            <a:r>
              <a:t>    $payload = base64_encode(json_encode([</a:t>
            </a:r>
            <a:br/>
            <a:r>
              <a:t>        'iss' =&gt; 'MaktabaBora', 'sub' =&gt; $user-&gt;id,</a:t>
            </a:r>
            <a:br/>
            <a:r>
              <a:t>        'role' =&gt; $user-&gt;role, 'iat' =&gt; time(), 'exp' =&gt; time() + $ttl</a:t>
            </a:r>
            <a:br/>
            <a:r>
              <a:t>    ]));</a:t>
            </a:r>
            <a:br/>
            <a:r>
              <a:t>    $sig = hash_hmac('sha256', "{$header}.{$payload}", $this-&gt;secret, true);</a:t>
            </a:r>
            <a:br/>
            <a:r>
              <a:t>    return "{$header}.{$payload}." . base64_encode($sig);</a:t>
            </a:r>
            <a:br/>
            <a:r>
              <a:t>}</a:t>
            </a:r>
            <a:br/>
            <a:br/>
            <a:r>
              <a:t>// 2. Rolling 24h AI Quota Enforcement (ChatbotCostLimiter.php)</a:t>
            </a:r>
            <a:br/>
            <a:r>
              <a:t>public function handle(Request $request, Closure $next): Response {</a:t>
            </a:r>
            <a:br/>
            <a:r>
              <a:t>    $user = $request-&gt;user();</a:t>
            </a:r>
            <a:br/>
            <a:r>
              <a:t>    if ($user &amp;&amp; ($member = Member::where('user_id', $user-&gt;id)-&gt;first())) {</a:t>
            </a:r>
            <a:br/>
            <a:r>
              <a:t>        $recentTokens = AiUsageLog::where('member_id', $member-&gt;id)</a:t>
            </a:r>
            <a:br/>
            <a:r>
              <a:t>            -&gt;where('created_at', '&gt;=', now()-&gt;subDay())-&gt;sum('tokens_consumed');</a:t>
            </a:r>
            <a:br/>
            <a:r>
              <a:t>        if ($recentTokens &gt;= 20000) {</a:t>
            </a:r>
            <a:br/>
            <a:r>
              <a:t>            return response()-&gt;json(['error' =&gt; 'AI Quota Exceeded (20k)'], 429);</a:t>
            </a:r>
            <a:br/>
            <a:r>
              <a:t>        }</a:t>
            </a:r>
            <a:br/>
            <a:r>
              <a:t>    }</a:t>
            </a:r>
            <a:br/>
            <a:r>
              <a:t>    return $next($request);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71600"/>
            <a:ext cx="391363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Implementation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20240"/>
            <a:ext cx="354787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Stateless Authentication
</a:t>
            </a:r>
            <a:r>
              <a:rPr sz="1050">
                <a:solidFill>
                  <a:srgbClr val="0F172A"/>
                </a:solidFill>
                <a:latin typeface="Segoe UI"/>
              </a:rPr>
              <a:t>JWTs encode user ID and RBAC role, cryptographically signed with HMAC-SHA256. Avoids costly database lookups on routine requests.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Cache Blacklisting
</a:t>
            </a:r>
            <a:r>
              <a:rPr sz="1050">
                <a:solidFill>
                  <a:srgbClr val="0F172A"/>
                </a:solidFill>
                <a:latin typeface="Segoe UI"/>
              </a:rPr>
              <a:t>Logout immediately writes the token hash to Redis/Cache with a TTL matching the token's remaining lifetime.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AI Cost Ceiling
</a:t>
            </a:r>
            <a:r>
              <a:rPr sz="1050">
                <a:solidFill>
                  <a:srgbClr val="0F172A"/>
                </a:solidFill>
                <a:latin typeface="Segoe UI"/>
              </a:rPr>
              <a:t>ChatbotCostLimiter aggregates token consumption over a rolling 24-hour window, halting requests with HTTP 429 before expensive LLM API invocations.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8: 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Code: Vector Cosine Similarity &amp; TF-IDF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583680" cy="49149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914400" cy="25603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1F5F9"/>
                </a:solidFill>
                <a:latin typeface="Consolas"/>
              </a:defRPr>
            </a:pPr>
            <a:r>
              <a:t>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217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// 1. Native High-Dimensional Cosine Similarity (BookEmbeddingService.php)</a:t>
            </a:r>
            <a:br/>
            <a:r>
              <a:t>public static function cosine(array $a, array $b): float {</a:t>
            </a:r>
            <a:br/>
            <a:r>
              <a:t>    $dot = 0.0; $normA = 0.0; $normB = 0.0;</a:t>
            </a:r>
            <a:br/>
            <a:r>
              <a:t>    $len = count($a);</a:t>
            </a:r>
            <a:br/>
            <a:r>
              <a:t>    if ($len === 0 || $len !== count($b)) return 0.0;</a:t>
            </a:r>
            <a:br/>
            <a:br/>
            <a:r>
              <a:t>    for ($i = 0; $i &lt; $len; $i++) {</a:t>
            </a:r>
            <a:br/>
            <a:r>
              <a:t>        $dot += $a[$i] * $b[$i];</a:t>
            </a:r>
            <a:br/>
            <a:r>
              <a:t>        $normA += $a[$i] * $a[$i];</a:t>
            </a:r>
            <a:br/>
            <a:r>
              <a:t>        $normB += $b[$i] * $b[$i];</a:t>
            </a:r>
            <a:br/>
            <a:r>
              <a:t>    }</a:t>
            </a:r>
            <a:br/>
            <a:r>
              <a:t>    $denom = sqrt($normA) * sqrt($normB);</a:t>
            </a:r>
            <a:br/>
            <a:r>
              <a:t>    return $denom &gt; 0.0 ? ($dot / $denom) : 0.0;</a:t>
            </a:r>
            <a:br/>
            <a:r>
              <a:t>}</a:t>
            </a:r>
            <a:br/>
            <a:br/>
            <a:r>
              <a:t>// 2. Content-Based TF-IDF Cosine Ranking (CatalogRetrievalService.php)</a:t>
            </a:r>
            <a:br/>
            <a:r>
              <a:t>public function searchCatalog(string $query, ?string $genre = null): Collection {</a:t>
            </a:r>
            <a:br/>
            <a:r>
              <a:t>    $books = Book::query()-&gt;when($genre, fn($q) =&gt; $q-&gt;where('genre', $genre))-&gt;get();</a:t>
            </a:r>
            <a:br/>
            <a:r>
              <a:t>    return $books-&gt;map(function ($book) use ($query) {</a:t>
            </a:r>
            <a:br/>
            <a:r>
              <a:t>        $book-&gt;similarity_score = TextSimilarity::cosineSimilarity(</a:t>
            </a:r>
            <a:br/>
            <a:r>
              <a:t>            $query, "{$book-&gt;title} {$book-&gt;author} {$book-&gt;description}"</a:t>
            </a:r>
            <a:br/>
            <a:r>
              <a:t>        );</a:t>
            </a:r>
            <a:br/>
            <a:r>
              <a:t>        return $book;</a:t>
            </a:r>
            <a:br/>
            <a:r>
              <a:t>    })-&gt;filter(fn($b) =&gt; $b-&gt;similarity_score &gt; 0.15)</a:t>
            </a:r>
            <a:br/>
            <a:r>
              <a:t>      -&gt;sortByDesc('similarity_score')-&gt;values();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71600"/>
            <a:ext cx="391363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Implementation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20240"/>
            <a:ext cx="354787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Pure PHP Vector Math
</a:t>
            </a:r>
            <a:r>
              <a:rPr sz="1050">
                <a:solidFill>
                  <a:srgbClr val="0F172A"/>
                </a:solidFill>
                <a:latin typeface="Segoe UI"/>
              </a:rPr>
              <a:t>Computes dot product and L2 norms between 1536-dimensional embedding vectors without requiring specialized PostgreSQL vector extensions.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Hybrid Recommendation
</a:t>
            </a:r>
            <a:r>
              <a:rPr sz="1050">
                <a:solidFill>
                  <a:srgbClr val="0F172A"/>
                </a:solidFill>
                <a:latin typeface="Segoe UI"/>
              </a:rPr>
              <a:t>Combines semantic vector embeddings with term-frequency inverse-document-frequency (TF-IDF) string distance as an offline fallback.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Grounded Catalog Context
</a:t>
            </a:r>
            <a:r>
              <a:rPr sz="1050">
                <a:solidFill>
                  <a:srgbClr val="0F172A"/>
                </a:solidFill>
                <a:latin typeface="Segoe UI"/>
              </a:rPr>
              <a:t>Matched titles, authors, and shelf codes are extracted and injected into the LLM system prompt to prevent hallucination.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8: 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Code: Safaricom Daraja M-Pesa &amp; Forex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583680" cy="49149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08760"/>
            <a:ext cx="914400" cy="25603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1F5F9"/>
                </a:solidFill>
                <a:latin typeface="Consolas"/>
              </a:defRPr>
            </a:pPr>
            <a:r>
              <a:t>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2179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// 1. M-Pesa STK Push Prompt Dispatch (DarajaPaymentService.php)</a:t>
            </a:r>
            <a:br/>
            <a:r>
              <a:t>public function initiateStkPush(string $phone, float $amount, string $ref): array {</a:t>
            </a:r>
            <a:br/>
            <a:r>
              <a:t>    $timestamp = date('YmdHis');</a:t>
            </a:r>
            <a:br/>
            <a:r>
              <a:t>    $password = base64_encode($this-&gt;shortcode . $this-&gt;passkey . $timestamp);</a:t>
            </a:r>
            <a:br/>
            <a:br/>
            <a:r>
              <a:t>    $res = Http::withToken($this-&gt;generateAccessToken())</a:t>
            </a:r>
            <a:br/>
            <a:r>
              <a:t>        -&gt;post('https://sandbox.safaricom.co.ke/mpesa/stkpush/v1/processrequest', [</a:t>
            </a:r>
            <a:br/>
            <a:r>
              <a:t>            'BusinessShortCode' =&gt; $this-&gt;shortcode,</a:t>
            </a:r>
            <a:br/>
            <a:r>
              <a:t>            'Password'          =&gt; $password,</a:t>
            </a:r>
            <a:br/>
            <a:r>
              <a:t>            'Timestamp'         =&gt; $timestamp,</a:t>
            </a:r>
            <a:br/>
            <a:r>
              <a:t>            'TransactionType'   =&gt; 'CustomerPayBillOnline',</a:t>
            </a:r>
            <a:br/>
            <a:r>
              <a:t>            'Amount'            =&gt; (int) ceil($amount),</a:t>
            </a:r>
            <a:br/>
            <a:r>
              <a:t>            'PartyA'            =&gt; $this-&gt;formatPhoneNumber($phone),</a:t>
            </a:r>
            <a:br/>
            <a:r>
              <a:t>            'PartyB'            =&gt; $this-&gt;shortcode,</a:t>
            </a:r>
            <a:br/>
            <a:r>
              <a:t>            'PhoneNumber'       =&gt; $this-&gt;formatPhoneNumber($phone),</a:t>
            </a:r>
            <a:br/>
            <a:r>
              <a:t>            'CallBackURL'       =&gt; config('services.daraja.callback_url'),</a:t>
            </a:r>
            <a:br/>
            <a:r>
              <a:t>            'AccountReference'  =&gt; substr($ref, 0, 12),</a:t>
            </a:r>
            <a:br/>
            <a:r>
              <a:t>            'TransactionDesc'   =&gt; 'MaktabaBora Pay',</a:t>
            </a:r>
            <a:br/>
            <a:r>
              <a:t>        ]);</a:t>
            </a:r>
            <a:br/>
            <a:r>
              <a:t>    return $res-&gt;json() ?? [];</a:t>
            </a:r>
            <a:br/>
            <a:r>
              <a:t>}</a:t>
            </a:r>
            <a:br/>
            <a:br/>
            <a:r>
              <a:t>// 2. 24-Hour Currency Exchange Rate Caching (CurrencyConverterService.php)</a:t>
            </a:r>
            <a:br/>
            <a:r>
              <a:t>public function convert(?float $amount, ?string $from, string $to = 'KES'): ?float {</a:t>
            </a:r>
            <a:br/>
            <a:r>
              <a:t>    if (!$amount || !$from || strtoupper($from) === strtoupper($to)) return $amount;</a:t>
            </a:r>
            <a:br/>
            <a:r>
              <a:t>    $rates = Cache::remember('forex_rates_kes', 86400, fn() =&gt; $this-&gt;fetchLiveRates());</a:t>
            </a:r>
            <a:br/>
            <a:r>
              <a:t>    if (!isset($rates[$from]) || !isset($rates[$to])) return null;</a:t>
            </a:r>
            <a:br/>
            <a:r>
              <a:t>    return round(($amount / $rates[$from]) * $rates[$to], 2);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71600"/>
            <a:ext cx="3913632" cy="4914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45643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Implementation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920240"/>
            <a:ext cx="354787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Base64 Security Token
</a:t>
            </a:r>
            <a:r>
              <a:rPr sz="1050">
                <a:solidFill>
                  <a:srgbClr val="0F172A"/>
                </a:solidFill>
                <a:latin typeface="Segoe UI"/>
              </a:rPr>
              <a:t>Generates dynamic Daraja timestamp password and bearer token for authenticated Safaricom gateway communication.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Simulated Evaluation Flow
</a:t>
            </a:r>
            <a:r>
              <a:rPr sz="1050">
                <a:solidFill>
                  <a:srgbClr val="0F172A"/>
                </a:solidFill>
                <a:latin typeface="Segoe UI"/>
              </a:rPr>
              <a:t>Constructs compliant Daraja 2.0 payload envelopes and mock settlements for safe zero-cost MVP demonstration.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24-Hour Cache Layer
</a:t>
            </a:r>
            <a:r>
              <a:rPr sz="1050">
                <a:solidFill>
                  <a:srgbClr val="0F172A"/>
                </a:solidFill>
                <a:latin typeface="Segoe UI"/>
              </a:rPr>
              <a:t>Live exchange rates are cached for 86,400 seconds (24h) to avoid third-party API latency and rate-limit penalties.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9: APIS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REST API Architecture &amp; Public / Member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2560320"/>
                <a:gridCol w="341345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Verb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Endpoint URI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Controller 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Middleware Guards &amp; Authorization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/api/v1/auth/register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AuthController@register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Public: Validates unique email, creates 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/api/v1/auth/login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AuthController@login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Public: Verifies credentials, mints Bearer JWT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/api/v1/books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BookInventoryController@index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Public: Paginated catalog with availability &amp; pricing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/api/v1/books/{book}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BookInventoryController@show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Public: Full synopsis, physical shelf code, copies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/api/v1/fines/daraja/callback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FineController@darajaCallback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Public: Safaricom M-Pesa webhook callback receiver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/api/v1/auth/me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AuthController@me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jwt.validation, ensure.account: Returns user &amp; profile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/api/v1/loans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LoanController@index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ensure.member: List member active and historical loans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/api/v1/digital-books/checkout-cart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DigitalRentalController@checkoutCart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ensure.member: M-Pesa STK push for eBook cart checkout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/api/v1/digital-books/{id}/read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DigitalRentalController@read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ensure.digital_access: Streams chapter index &amp; reader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9: APIS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REST API: Circulation Desk &amp; Administration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2743200"/>
                <a:gridCol w="3230575"/>
              </a:tblGrid>
              <a:tr h="411480"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Verb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Endpoint URI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Controller Action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109728" rIns="109728" tIns="73152" bIns="73152"/>
                    <a:lstStyle/>
                    <a:p>
                      <a:pPr>
                        <a:defRPr sz="110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Middleware Guards &amp; Authorization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/api/v1/ai/chat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AiChatbotController@chat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chatbot.cost_limiter: Grounded RAG conversational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/api/v1/librarian/metrics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LibrarianDashboardController@metrics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ensure.librarian: Circulation statistics, active loans, fines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/api/v1/librarian/loans/checkout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LoanController@checkout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validate.borrow_limit, check.fine: Barcode scan checkout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/api/v1/librarian/loans/{id}/return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LoanController@returnBook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ensure.librarian: Check-in volume &amp; auto-accrue fines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/api/v1/librarian/fines/{id}/waive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FineController@waive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ensure.librarian: Waive overdue fine with 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/api/v1/librarian/openlibrary/import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LibrarianDashboardController@import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ensure.librarian: 1-Click Open Library ISBN catalog import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/api/v1/admin/users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AdminDashboardController@users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ensure.admin: List system users, roles, and ban statuses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/api/v1/admin/users/{user}/toggle-ban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AdminDashboardController@toggleBan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ensure.admin: Suspend user account with mandatory reason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/api/v1/admin/crud/{table}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AdminCrudController@getTableData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ensure.admin: Direct administrative table maintenance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10: 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Security Architecture &amp; Defense-in-Depth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Stateless Cryptographic Tokens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HMAC-SHA256 JWT tokens signed with master secret. Payload tampering invalidates signatures instantly. Logout adds token hashes to Redis cache blacklist with automatic TTL eviction.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Sequential Middleware Gatekeepers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Requests traverse an ordered inspection pipeline: CORS -&gt; Rate Limiting -&gt; JWT Verification -&gt; Account Active Check -&gt; Non-Banned Check -&gt; Borrow Limit -&gt; Fine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Financial Transaction Integrity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M-Pesa STK callbacks verify merchant shortcodes and transaction IDs. Multi-table asset grants and fine clearances execute inside ACID database transactions to prevent race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AI Anti-Hallucination &amp; PII Safety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RAG prompts strictly constrain LLM context to real database catalog holdings. Explicit system prompts bar the assistant from discussing user accounts or disclosing patron borrowing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SQL Injection Defense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All database read and write operations are routed through Eloquent ORM or parameterized PDO prepared statements, fully immunizing the platform from SQL injection attacks.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Credential &amp; API Key Encryption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External third-party API keys (OpenAI, Gemini, Daraja) are stored encrypted using OpenSSL AES-256-CBC and masked when displayed in administrative interfaces.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11: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Engineering Challenges &amp; Implemented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Challenge 1: Neon Connection Pooling vs DDL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Neon's PgBouncer transaction pooling aborts DDL schema migrations. -&gt; Solution: Implemented an automatic detector in config/database.php that strips the -pooler. suffix during artisan migrate commands to connect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Challenge 2: PostgreSQL SSL Mode Mismatch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Neon requires sslmode=require, while local Windows Postgres throws SQLSTATE[08006]. -&gt; Solution: Configured sslmode fallback to 'prefer', allowing local connections without SSL while negotiating SSL with Neon Cloud seamlessly.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3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Challenge 3: Unbounded AI API Cost Exposure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Uncontrolled patron AI queries risk catastrophic monthly API billing spikes. -&gt; Solution: Authored ChatbotCostLimiter middleware enforcing a hard 20,000 token limit per member across rolling 24-hour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8172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Challenge 4: Localhost M-Pesa Webhooks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Safaricom cannot dispatch callbacks to local private IP development environments. -&gt; Solution: Built a hybrid polling mechanism in DarajaPaymentService to query transaction status continuously while the modal is displayed.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5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3328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Challenge 5: Vector Search without Vector DB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Hosting dedicated vector database extensions increases infrastructure overhead. -&gt; Solution: Implemented pure PHP high-dimensional cosine similarity ranking, backed by TF-IDF keyword cosine similarity as an offline fallback.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12: TESTING &amp;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Testing Suite &amp; Quality Assurance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80 / 80 Passed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Unit Tests (185 Assertions)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284C7"/>
                </a:solidFill>
                <a:latin typeface="Segoe UI"/>
              </a:defRPr>
            </a:pPr>
            <a:r>
              <a:t>47 / 47 Passed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Feature Tests (212 Assertions)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1280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  <a:latin typeface="Segoe UI"/>
              </a:defRPr>
            </a:pPr>
            <a:r>
              <a:t>127 Total Tests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397 Assertions in ~7.5 Seconds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Isolated In-Memory Test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7472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Configured in phpunit.xml via SQLite :memory: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Tests execute in RAM in ~7.5 seconds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Uses RefreshDatabase trait for clean state isolation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Zero risk of mutating local or Neon PostgreSQL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2608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Unit Test Coverage (`tests/Unit`)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47472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15 Services tests (JWT, Cosine math, M-Pesa, RAG guardrails)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17 Middleware tests (Rate limiters, borrow caps, token guards)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6 Provider tests (IoC container resolution &amp; singletons)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ContractsIntegrityTest asserting strict interface 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926080"/>
            <a:ext cx="338328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1089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Feature Test Coverage (`tests/Feature`)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474720"/>
            <a:ext cx="292608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Full HTTP pipeline tests (POST /api/v1/auth/login, loans)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Digital eBook purchasing and streaming permission checks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Safaricom M-Pesa webhook callback simulation</a:t>
            </a:r>
          </a:p>
          <a:p>
            <a:pPr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 Admin user ban toggles and dynamic CRUD operations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13: 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Unified Fullstack Container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Multi-Stage Docker Build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node:20-alpine + php:8.2-fpm-nginx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Stage 1 compiles React 18 SPA with Vite into /dist. Stage 2 serves Nginx + PHP-FPM 8.2 and copies static SPA into Laravel public/ folder.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Single Turnkey Service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Render Blueprint (render.yaml)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Deploys both frontend UI and backend API as a single web service, eliminating CORS complexity and hardcoded local 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3. Serverless Cloud Database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Neon PostgreSQL (AWS Ohio)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High-availability serverless PostgreSQL 16 with PgBouncer connection pooling and dynamic direct-migration fallback detection.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4. SPA Catch-All Route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Laravel routes/web.php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Nginx serves static assets directly; web routes (/, /catalog, /login) are routed to index.html for client-side React Router navigation.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5. Production Optimizations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OPcache &amp; Bytecode Caching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Bytecode caching enabled (PHP_OPCACHE_ENABLE=1) and Composer dependencies bundled with optimized autoloader (--no-dev --prefer-dist).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4206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6. Simulated M-Pesa Evaluation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Segoe UI"/>
              </a:defRPr>
            </a:pPr>
            <a:r>
              <a:t>Compliant Sandbox Payment Flow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Constructs standard Daraja 2.0 payload envelopes and polling loops in simulation mode for zero-cost, safe evaluation.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13: 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Continuous Integration &amp; Deployment (CI/CD)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GitHub Actions Automated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800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Stage 1: Multi-Branch Trigger
</a:t>
            </a:r>
            <a:r>
              <a:rPr sz="1000">
                <a:solidFill>
                  <a:srgbClr val="0F172A"/>
                </a:solidFill>
                <a:latin typeface="Segoe UI"/>
              </a:rPr>
              <a:t>Workflow activates on push and pull-request events targeting 'main' and 'kimura' development branches.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Stage 2: Container Environment Setup
</a:t>
            </a:r>
            <a:r>
              <a:rPr sz="1000">
                <a:solidFill>
                  <a:srgbClr val="0F172A"/>
                </a:solidFill>
                <a:latin typeface="Segoe UI"/>
              </a:rPr>
              <a:t>Spins up ubuntu-latest virtual runner, installs PHP 8.2 and Node 20 runtimes, and restores caches.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Stage 3: Automated Test &amp; Build Gates
</a:t>
            </a:r>
            <a:r>
              <a:rPr sz="1000">
                <a:solidFill>
                  <a:srgbClr val="0F172A"/>
                </a:solidFill>
                <a:latin typeface="Segoe UI"/>
              </a:rPr>
              <a:t>Executes complete PHPUnit suite (127 tests, 397 assertions) and builds the React SPA bundle with Vite.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284C7"/>
                </a:solidFill>
                <a:latin typeface="Segoe UI"/>
              </a:rPr>
              <a:t>Stage 4: Zero-Downtime Deploy Trigger
</a:t>
            </a:r>
            <a:r>
              <a:rPr sz="1000">
                <a:solidFill>
                  <a:srgbClr val="0F172A"/>
                </a:solidFill>
                <a:latin typeface="Segoe UI"/>
              </a:rPr>
              <a:t>On 100% test passage, curls Render Deploy Hook URL with commit metadata. Broken builds are automatically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Quality Assurance &amp; Security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800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Segoe UI"/>
              </a:rPr>
              <a:t>Strict Quality Gatekeeping
</a:t>
            </a:r>
            <a:r>
              <a:rPr sz="1000">
                <a:solidFill>
                  <a:srgbClr val="0F172A"/>
                </a:solidFill>
                <a:latin typeface="Segoe UI"/>
              </a:rPr>
              <a:t>No commit reaches production without passing every assertion. Prevents regressions in loan quotas, fine calculations, and JWT validation.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Segoe UI"/>
              </a:rPr>
              <a:t>Encrypted Webhook Secrets
</a:t>
            </a:r>
            <a:r>
              <a:rPr sz="1000">
                <a:solidFill>
                  <a:srgbClr val="0F172A"/>
                </a:solidFill>
                <a:latin typeface="Segoe UI"/>
              </a:rPr>
              <a:t>The Render Deploy Hook URL is stored strictly in GitHub Encrypted Repository Secrets (RENDER_DEPLOY_HOOK_URL), preventing credential leaks.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Segoe UI"/>
              </a:rPr>
              <a:t>High-Velocity Execution
</a:t>
            </a:r>
            <a:r>
              <a:rPr sz="1000">
                <a:solidFill>
                  <a:srgbClr val="0F172A"/>
                </a:solidFill>
                <a:latin typeface="Segoe UI"/>
              </a:rPr>
              <a:t>Complete test suite runs in under 15 seconds, providing immediate feedback to developers on pull requests.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10B981"/>
                </a:solidFill>
                <a:latin typeface="Segoe UI"/>
              </a:rPr>
              <a:t>Audit Trail &amp; Traceability
</a:t>
            </a:r>
            <a:r>
              <a:rPr sz="1000">
                <a:solidFill>
                  <a:srgbClr val="0F172A"/>
                </a:solidFill>
                <a:latin typeface="Segoe UI"/>
              </a:rPr>
              <a:t>Every deployment links commit SHA, test execution results, and container build logs directly in GitHub and Render consoles.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13: 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MVP Deployment: Advantages vs. Disadvantages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PROS: ARCHITECTURAL 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79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1. Zero Infrastructure Expenditure ($0/mo)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Render Free Tier + Neon DB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Fully functional containerized web service and scalable cloud PostgreSQL database with zero financial hosting costs for MVP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2. Fullstack Single-Origin Simplicity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Unified Container + Auto SSL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UI and API share the exact same origin, eliminating CORS issues and hardcoded ports with automated Let's Encrypt SSL.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79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20640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3. Automated CI/CD Test Gate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GitHub Actions Deployment Hook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127 automated tests must pass before the Render deploy hook is triggered, guaranteeing broken code never reaches production.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525780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CONS: MVP TRADE-OFFS &amp; 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74519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79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1. Free-Tier Inactivity Sleep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15-Min Inactivity Timeout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Render puts free containers to sleep after 15 minutes of inactivity; the initial wake-up request incurs a 30 to 50-second cold start latency delay.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2900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2. Compute &amp; Memory Ceiling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0.1 CPU &amp; 512 MB RAM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Free tier bounds high concurrency and memory-intensive batch operations (easily upgraded to Starter $7/mo for dedicated CPU and no sleep).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83479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48006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3. Ephemeral Disk &amp; Simulated Flow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Segoe UI"/>
              </a:defRPr>
            </a:pPr>
            <a:r>
              <a:t>Stateless Container Architecture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Container filesystem resets on redeploy (all state safely stored in Neon DB); Daraja M-Pesa operates in simulated flow for evaluation safety.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13: DEPLOYMENT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Alternative Bare-Metal / Local CLI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1: Clone Repository &amp; PHP Dependencies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git clone https://github.com/lornaarwa/Smart-library-management-system.git</a:t>
            </a:r>
            <a:br/>
            <a:r>
              <a:t>cd backend &amp;&amp; composer install --no-dev --optimize-autoloader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2: Environment Configuration &amp; Key Generation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cp .env.example .env</a:t>
            </a:r>
            <a:br/>
            <a:r>
              <a:t>php artisan key:generate  # Generates 32-char master secret for JWT &amp; encryption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3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3: Database Schema Migration &amp; Seeding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php artisan migrate --force --seed  # Populates baseline catalog, tiers &amp; test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8172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4: Cache Optimization &amp; Configuration Locking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php artisan config:cache &amp;&amp; php artisan route:cache &amp;&amp; php artisan view:cache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23559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33288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Step 5: Frontend Single Page App Build</a:t>
            </a:r>
          </a:p>
          <a:p>
            <a:pPr>
              <a:defRPr sz="950">
                <a:solidFill>
                  <a:srgbClr val="0F172A"/>
                </a:solidFill>
                <a:latin typeface="Consolas"/>
              </a:defRPr>
            </a:pPr>
            <a:r>
              <a:t>cd ../frontend &amp;&amp; npm install &amp;&amp; npm run build  # Generates static assets in frontend/dist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SECTION 14: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Strategic Roadmap &amp; 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Hardware RFID &amp; Barcode Scanners</a:t>
            </a:r>
          </a:p>
          <a:p>
            <a:pPr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WebUSB &amp; HID Scanner Listeners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Enable hands-free, high-throughput book checkout and inventory auditing directly from browser workstations without auxiliary client drivers.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2. Encrypted Offline-First PWA Reader</a:t>
            </a:r>
          </a:p>
          <a:p>
            <a:pPr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Progressive Web App &amp; Web Cryptography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Cache purchased digital eBooks securely via Service Workers with client-side AES-GCM decryption, enabling reading during internet outages.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3. Automated SMS via Africa's Talking</a:t>
            </a:r>
          </a:p>
          <a:p>
            <a:pPr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Telephony Gateway Integration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Dispatch automated SMS notifications to patrons 48 hours prior to loan due dates and immediate alerts when waitlisted hold copies are available.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4. Multi-Branch Inter-Library Sync</a:t>
            </a:r>
          </a:p>
          <a:p>
            <a:pPr>
              <a:spcAft>
                <a:spcPts val="600"/>
              </a:spcAft>
              <a:defRPr sz="1050" b="1">
                <a:solidFill>
                  <a:srgbClr val="64748B"/>
                </a:solidFill>
                <a:latin typeface="Segoe UI"/>
              </a:defRPr>
            </a:pPr>
            <a:r>
              <a:t>Multi-Tenant Enterprise Scaling</a:t>
            </a:r>
          </a:p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Synchronize catalogs and manage inter-library loans across multiple university or county library campuses with central governance.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SECTION 15: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Segoe UI"/>
              </a:defRPr>
            </a:pPr>
            <a:r>
              <a:t>Conclusion &amp; Architectural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 b="1">
                <a:solidFill>
                  <a:srgbClr val="0EA5E9"/>
                </a:solidFill>
                <a:latin typeface="Segoe UI"/>
              </a:defRPr>
            </a:pPr>
            <a:r>
              <a:t>A Superior, Production-Ready Library Management Ecosystem</a:t>
            </a:r>
          </a:p>
          <a:p>
            <a:pPr>
              <a:spcAft>
                <a:spcPts val="2400"/>
              </a:spcAft>
              <a:defRPr sz="1400">
                <a:solidFill>
                  <a:srgbClr val="F1F5F9"/>
                </a:solidFill>
                <a:latin typeface="Segoe UI"/>
              </a:defRPr>
            </a:pPr>
            <a:r>
              <a:t>MaktabaBora redefines modern library management by uniting physical inventory administration with an advanced digital ecosystem. By combining a headless, interface-driven Laravel 11 REST API, an intuitive React 18 frontend, robust PostgreSQL 3NF data modeling, cashless Safaricom Daraja M-Pesa payments (simulated for MVP), and grounded Retrieval-Augmented Generation (RAG) AI, the platform delivers an enterprise-grade, secure, and production-ready solution.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100% Passing Automated Tests (127/127)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11 High-Resolution Horizontal A4 UML Diagrams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Zero Database Session Bloat (Stateless HMAC-SHA256 JWT)</a:t>
            </a:r>
          </a:p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✔ Containerized Render &amp; Neon DB Deployment with GitHub Actions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